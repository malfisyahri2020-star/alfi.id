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nton" charset="1" panose="00000500000000000000"/>
      <p:regular r:id="rId21"/>
    </p:embeddedFont>
    <p:embeddedFont>
      <p:font typeface="Inter" charset="1" panose="020B05020300000000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8416731" cy="3710375"/>
          </a:xfrm>
          <a:custGeom>
            <a:avLst/>
            <a:gdLst/>
            <a:ahLst/>
            <a:cxnLst/>
            <a:rect r="r" b="b" t="t" l="l"/>
            <a:pathLst>
              <a:path h="3710375" w="8416731">
                <a:moveTo>
                  <a:pt x="0" y="3710375"/>
                </a:moveTo>
                <a:lnTo>
                  <a:pt x="8416731" y="3710375"/>
                </a:lnTo>
                <a:lnTo>
                  <a:pt x="8416731" y="0"/>
                </a:lnTo>
                <a:lnTo>
                  <a:pt x="0" y="0"/>
                </a:lnTo>
                <a:lnTo>
                  <a:pt x="0" y="37103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9871710" y="6576819"/>
            <a:ext cx="8416290" cy="3710181"/>
          </a:xfrm>
          <a:custGeom>
            <a:avLst/>
            <a:gdLst/>
            <a:ahLst/>
            <a:cxnLst/>
            <a:rect r="r" b="b" t="t" l="l"/>
            <a:pathLst>
              <a:path h="3710181" w="8416290">
                <a:moveTo>
                  <a:pt x="8416290" y="0"/>
                </a:moveTo>
                <a:lnTo>
                  <a:pt x="0" y="0"/>
                </a:lnTo>
                <a:lnTo>
                  <a:pt x="0" y="3710181"/>
                </a:lnTo>
                <a:lnTo>
                  <a:pt x="8416290" y="3710181"/>
                </a:lnTo>
                <a:lnTo>
                  <a:pt x="841629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746558" y="3538925"/>
            <a:ext cx="11863411" cy="3213915"/>
          </a:xfrm>
          <a:prstGeom prst="rect">
            <a:avLst/>
          </a:prstGeom>
        </p:spPr>
        <p:txBody>
          <a:bodyPr anchor="t" rtlCol="false" tIns="0" lIns="0" bIns="0" rIns="0">
            <a:spAutoFit/>
          </a:bodyPr>
          <a:lstStyle/>
          <a:p>
            <a:pPr algn="ctr">
              <a:lnSpc>
                <a:spcPts val="12982"/>
              </a:lnSpc>
            </a:pPr>
            <a:r>
              <a:rPr lang="en-US" sz="9273" spc="278">
                <a:solidFill>
                  <a:srgbClr val="175DBD"/>
                </a:solidFill>
                <a:latin typeface="Anton"/>
                <a:ea typeface="Anton"/>
                <a:cs typeface="Anton"/>
                <a:sym typeface="Anton"/>
              </a:rPr>
              <a:t>LAPORAN PRAKTIK KERJA LAPANGAN</a:t>
            </a:r>
          </a:p>
        </p:txBody>
      </p:sp>
      <p:sp>
        <p:nvSpPr>
          <p:cNvPr name="TextBox 8" id="8"/>
          <p:cNvSpPr txBox="true"/>
          <p:nvPr/>
        </p:nvSpPr>
        <p:spPr>
          <a:xfrm rot="0">
            <a:off x="4411887" y="7081792"/>
            <a:ext cx="7559226" cy="615621"/>
          </a:xfrm>
          <a:prstGeom prst="rect">
            <a:avLst/>
          </a:prstGeom>
        </p:spPr>
        <p:txBody>
          <a:bodyPr anchor="t" rtlCol="false" tIns="0" lIns="0" bIns="0" rIns="0">
            <a:spAutoFit/>
          </a:bodyPr>
          <a:lstStyle/>
          <a:p>
            <a:pPr algn="ctr">
              <a:lnSpc>
                <a:spcPts val="5128"/>
              </a:lnSpc>
            </a:pPr>
            <a:r>
              <a:rPr lang="en-US" sz="3663">
                <a:solidFill>
                  <a:srgbClr val="175DBD"/>
                </a:solidFill>
                <a:latin typeface="Inter"/>
                <a:ea typeface="Inter"/>
                <a:cs typeface="Inter"/>
                <a:sym typeface="Inter"/>
              </a:rPr>
              <a:t>MUHAMMAD ALFI SYAHRI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087371" y="2879313"/>
            <a:ext cx="12113258" cy="5482366"/>
          </a:xfrm>
          <a:prstGeom prst="rect">
            <a:avLst/>
          </a:prstGeom>
        </p:spPr>
        <p:txBody>
          <a:bodyPr anchor="t" rtlCol="false" tIns="0" lIns="0" bIns="0" rIns="0">
            <a:spAutoFit/>
          </a:bodyPr>
          <a:lstStyle/>
          <a:p>
            <a:pPr algn="ctr">
              <a:lnSpc>
                <a:spcPts val="6227"/>
              </a:lnSpc>
            </a:pPr>
            <a:r>
              <a:rPr lang="en-US" sz="3663">
                <a:solidFill>
                  <a:srgbClr val="175DBD"/>
                </a:solidFill>
                <a:latin typeface="Inter"/>
                <a:ea typeface="Inter"/>
                <a:cs typeface="Inter"/>
                <a:sym typeface="Inter"/>
              </a:rPr>
              <a:t>NAMA : MUHAMMAD ALFI SYAHRI</a:t>
            </a:r>
          </a:p>
          <a:p>
            <a:pPr algn="ctr">
              <a:lnSpc>
                <a:spcPts val="6227"/>
              </a:lnSpc>
            </a:pPr>
            <a:r>
              <a:rPr lang="en-US" sz="3663">
                <a:solidFill>
                  <a:srgbClr val="175DBD"/>
                </a:solidFill>
                <a:latin typeface="Inter"/>
                <a:ea typeface="Inter"/>
                <a:cs typeface="Inter"/>
                <a:sym typeface="Inter"/>
              </a:rPr>
              <a:t>KELAS : XII TKJ 4</a:t>
            </a:r>
          </a:p>
          <a:p>
            <a:pPr algn="ctr">
              <a:lnSpc>
                <a:spcPts val="6227"/>
              </a:lnSpc>
            </a:pPr>
            <a:r>
              <a:rPr lang="en-US" sz="3663">
                <a:solidFill>
                  <a:srgbClr val="175DBD"/>
                </a:solidFill>
                <a:latin typeface="Inter"/>
                <a:ea typeface="Inter"/>
                <a:cs typeface="Inter"/>
                <a:sym typeface="Inter"/>
              </a:rPr>
              <a:t>NIS :41818</a:t>
            </a:r>
          </a:p>
          <a:p>
            <a:pPr algn="ctr">
              <a:lnSpc>
                <a:spcPts val="6227"/>
              </a:lnSpc>
            </a:pPr>
            <a:r>
              <a:rPr lang="en-US" sz="3663">
                <a:solidFill>
                  <a:srgbClr val="175DBD"/>
                </a:solidFill>
                <a:latin typeface="Inter"/>
                <a:ea typeface="Inter"/>
                <a:cs typeface="Inter"/>
                <a:sym typeface="Inter"/>
              </a:rPr>
              <a:t>NISN : 0086574286</a:t>
            </a:r>
          </a:p>
          <a:p>
            <a:pPr algn="ctr">
              <a:lnSpc>
                <a:spcPts val="6227"/>
              </a:lnSpc>
            </a:pPr>
            <a:r>
              <a:rPr lang="en-US" sz="3663">
                <a:solidFill>
                  <a:srgbClr val="175DBD"/>
                </a:solidFill>
                <a:latin typeface="Inter"/>
                <a:ea typeface="Inter"/>
                <a:cs typeface="Inter"/>
                <a:sym typeface="Inter"/>
              </a:rPr>
              <a:t>GURU PEMBIMBING : SITI MUNAWAROH S. KOM</a:t>
            </a:r>
          </a:p>
          <a:p>
            <a:pPr algn="ctr">
              <a:lnSpc>
                <a:spcPts val="6227"/>
              </a:lnSpc>
            </a:pPr>
            <a:r>
              <a:rPr lang="en-US" sz="3663">
                <a:solidFill>
                  <a:srgbClr val="175DBD"/>
                </a:solidFill>
                <a:latin typeface="Inter"/>
                <a:ea typeface="Inter"/>
                <a:cs typeface="Inter"/>
                <a:sym typeface="Inter"/>
              </a:rPr>
              <a:t>LOKASI : BANK SUMSEL BABEL CAPEM PTC</a:t>
            </a:r>
          </a:p>
          <a:p>
            <a:pPr algn="ctr">
              <a:lnSpc>
                <a:spcPts val="6227"/>
              </a:lnSpc>
            </a:pPr>
          </a:p>
        </p:txBody>
      </p:sp>
      <p:sp>
        <p:nvSpPr>
          <p:cNvPr name="TextBox 8" id="8"/>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IDENTITAS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569656" y="2852511"/>
            <a:ext cx="14664868" cy="6567066"/>
          </a:xfrm>
          <a:prstGeom prst="rect">
            <a:avLst/>
          </a:prstGeom>
        </p:spPr>
        <p:txBody>
          <a:bodyPr anchor="t" rtlCol="false" tIns="0" lIns="0" bIns="0" rIns="0">
            <a:spAutoFit/>
          </a:bodyPr>
          <a:lstStyle/>
          <a:p>
            <a:pPr algn="ctr">
              <a:lnSpc>
                <a:spcPts val="3075"/>
              </a:lnSpc>
            </a:pPr>
            <a:r>
              <a:rPr lang="en-US" sz="2196">
                <a:solidFill>
                  <a:srgbClr val="175DBD"/>
                </a:solidFill>
                <a:latin typeface="Inter"/>
                <a:ea typeface="Inter"/>
                <a:cs typeface="Inter"/>
                <a:sym typeface="Inter"/>
              </a:rPr>
              <a:t>Praktik Kerja Lapangan (PKL) merupakan program pendidikan yang dilaksanakan untuk bisa melatih kemampuan siswa/siswi dalam dunia industri. Pelaksanaan PKL dilakukan agar siswa bisa memahami dan mengukur seberapa jauh kompetensi keahlian yang dimilikinya. </a:t>
            </a:r>
          </a:p>
          <a:p>
            <a:pPr algn="ctr">
              <a:lnSpc>
                <a:spcPts val="3075"/>
              </a:lnSpc>
            </a:pPr>
            <a:r>
              <a:rPr lang="en-US" sz="2196">
                <a:solidFill>
                  <a:srgbClr val="175DBD"/>
                </a:solidFill>
                <a:latin typeface="Inter"/>
                <a:ea typeface="Inter"/>
                <a:cs typeface="Inter"/>
                <a:sym typeface="Inter"/>
              </a:rPr>
              <a:t> Selain itu, PKL membantu untuk siswa bisa mendapatkan bekal dalam menghadapi dunia kerja nantinya. Saat sudah memasuki dunia kerja, siswa diharapkan bisa untuk bersaing secara sehat dalam dunia industri maupun usaha.</a:t>
            </a:r>
          </a:p>
          <a:p>
            <a:pPr algn="ctr">
              <a:lnSpc>
                <a:spcPts val="3075"/>
              </a:lnSpc>
            </a:pPr>
            <a:r>
              <a:rPr lang="en-US" sz="2196">
                <a:solidFill>
                  <a:srgbClr val="175DBD"/>
                </a:solidFill>
                <a:latin typeface="Inter"/>
                <a:ea typeface="Inter"/>
                <a:cs typeface="Inter"/>
                <a:sym typeface="Inter"/>
              </a:rPr>
              <a:t> PKL diberikan agar siswa secara teknis mendapatkan wawasan yang lebih luas dan fleksibel, terutama dalam bidang teknologi dan ilmu pengetahuan.Dan bisa membantu meningkatkan kualitas dan mutu SMK agar siswa dapat mengimplementasikan secara langsung materi yang didapatkan di bangku sekolah. Praktik Kerja Lapangan (PKL) memberikan kesempatan untuk menerapkan ilmu dan pengetahuan yang diperoleh di sekolah kedalam situasi kerja nyata.</a:t>
            </a:r>
          </a:p>
          <a:p>
            <a:pPr algn="ctr">
              <a:lnSpc>
                <a:spcPts val="3075"/>
              </a:lnSpc>
            </a:pPr>
            <a:r>
              <a:rPr lang="en-US" sz="2196">
                <a:solidFill>
                  <a:srgbClr val="175DBD"/>
                </a:solidFill>
                <a:latin typeface="Inter"/>
                <a:ea typeface="Inter"/>
                <a:cs typeface="Inter"/>
                <a:sym typeface="Inter"/>
              </a:rPr>
              <a:t>  Kerja Lapangan (PKL) ini diharapkan siswa/siswi dapat memiliki pengalaman yang berharga dalam menyelesaikan permasalahan yang berkaitan dengan jurusan masing-masing. Sesuai dengan kurikulum saat ini dan persyaratan Praktik Kerja Lapangan (PKL), maka seluruh siswa/siswi SMK Negeri 2 Palembang diwajibkan melaksanakan Praktik Kerja Lapangan (PKL) selama + 6 bulan dengan dibimbing oleh guru pembimbing. </a:t>
            </a:r>
          </a:p>
          <a:p>
            <a:pPr algn="ctr">
              <a:lnSpc>
                <a:spcPts val="6010"/>
              </a:lnSpc>
            </a:pPr>
          </a:p>
        </p:txBody>
      </p:sp>
      <p:sp>
        <p:nvSpPr>
          <p:cNvPr name="TextBox 8" id="8"/>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LATAR BELAKANG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160246" y="3154695"/>
            <a:ext cx="14425199" cy="5611909"/>
          </a:xfrm>
          <a:prstGeom prst="rect">
            <a:avLst/>
          </a:prstGeom>
        </p:spPr>
        <p:txBody>
          <a:bodyPr anchor="t" rtlCol="false" tIns="0" lIns="0" bIns="0" rIns="0">
            <a:spAutoFit/>
          </a:bodyPr>
          <a:lstStyle/>
          <a:p>
            <a:pPr algn="l">
              <a:lnSpc>
                <a:spcPts val="4107"/>
              </a:lnSpc>
            </a:pPr>
          </a:p>
          <a:p>
            <a:pPr algn="l">
              <a:lnSpc>
                <a:spcPts val="4107"/>
              </a:lnSpc>
            </a:pPr>
          </a:p>
          <a:p>
            <a:pPr algn="l" marL="633384" indent="-316692" lvl="1">
              <a:lnSpc>
                <a:spcPts val="4107"/>
              </a:lnSpc>
              <a:buFont typeface="Arial"/>
              <a:buChar char="•"/>
            </a:pPr>
            <a:r>
              <a:rPr lang="en-US" sz="2933">
                <a:solidFill>
                  <a:srgbClr val="175DBD"/>
                </a:solidFill>
                <a:latin typeface="Inter"/>
                <a:ea typeface="Inter"/>
                <a:cs typeface="Inter"/>
                <a:sym typeface="Inter"/>
              </a:rPr>
              <a:t>1. Menghasilkan tenaga kerja yang memiliki keahlian profesional dengan tingkat pengetahuan dan keterampilan yang sesuai dengan tuntutan kerja.</a:t>
            </a:r>
          </a:p>
          <a:p>
            <a:pPr algn="l" marL="633384" indent="-316692" lvl="1">
              <a:lnSpc>
                <a:spcPts val="4107"/>
              </a:lnSpc>
              <a:buFont typeface="Arial"/>
              <a:buChar char="•"/>
            </a:pPr>
            <a:r>
              <a:rPr lang="en-US" sz="2933">
                <a:solidFill>
                  <a:srgbClr val="175DBD"/>
                </a:solidFill>
                <a:latin typeface="Inter"/>
                <a:ea typeface="Inter"/>
                <a:cs typeface="Inter"/>
                <a:sym typeface="Inter"/>
              </a:rPr>
              <a:t>2. Memberikan latihan kepada siswa/siswi untuk siap mental dalam menghadapi dunia nyata pada lingkungan kerja.</a:t>
            </a:r>
          </a:p>
          <a:p>
            <a:pPr algn="l" marL="587929" indent="-293964" lvl="1">
              <a:lnSpc>
                <a:spcPts val="3812"/>
              </a:lnSpc>
              <a:buFont typeface="Arial"/>
              <a:buChar char="•"/>
            </a:pPr>
            <a:r>
              <a:rPr lang="en-US" sz="2723">
                <a:solidFill>
                  <a:srgbClr val="175DBD"/>
                </a:solidFill>
                <a:latin typeface="Inter"/>
                <a:ea typeface="Inter"/>
                <a:cs typeface="Inter"/>
                <a:sym typeface="Inter"/>
              </a:rPr>
              <a:t>3. Membentuk jalinan kejasama antara sekolah dan Dunia Usaha/Dunia</a:t>
            </a:r>
          </a:p>
          <a:p>
            <a:pPr algn="l">
              <a:lnSpc>
                <a:spcPts val="4107"/>
              </a:lnSpc>
            </a:pPr>
            <a:r>
              <a:rPr lang="en-US" sz="2933">
                <a:solidFill>
                  <a:srgbClr val="175DBD"/>
                </a:solidFill>
                <a:latin typeface="Inter"/>
                <a:ea typeface="Inter"/>
                <a:cs typeface="Inter"/>
                <a:sym typeface="Inter"/>
              </a:rPr>
              <a:t>         </a:t>
            </a:r>
            <a:r>
              <a:rPr lang="en-US" sz="2933">
                <a:solidFill>
                  <a:srgbClr val="175DBD"/>
                </a:solidFill>
                <a:latin typeface="Inter"/>
                <a:ea typeface="Inter"/>
                <a:cs typeface="Inter"/>
                <a:sym typeface="Inter"/>
              </a:rPr>
              <a:t>Industri.</a:t>
            </a:r>
          </a:p>
          <a:p>
            <a:pPr algn="l" marL="633384" indent="-316692" lvl="1">
              <a:lnSpc>
                <a:spcPts val="4107"/>
              </a:lnSpc>
              <a:buFont typeface="Arial"/>
              <a:buChar char="•"/>
            </a:pPr>
            <a:r>
              <a:rPr lang="en-US" sz="2933">
                <a:solidFill>
                  <a:srgbClr val="175DBD"/>
                </a:solidFill>
                <a:latin typeface="Inter"/>
                <a:ea typeface="Inter"/>
                <a:cs typeface="Inter"/>
                <a:sym typeface="Inter"/>
              </a:rPr>
              <a:t>4. Membantu siswa/siswi dalam berkompetisi di dalam Dunia Usaha/Dunia Industri.</a:t>
            </a:r>
          </a:p>
          <a:p>
            <a:pPr algn="ctr">
              <a:lnSpc>
                <a:spcPts val="4107"/>
              </a:lnSpc>
            </a:pPr>
          </a:p>
        </p:txBody>
      </p:sp>
      <p:sp>
        <p:nvSpPr>
          <p:cNvPr name="TextBox 8" id="8"/>
          <p:cNvSpPr txBox="true"/>
          <p:nvPr/>
        </p:nvSpPr>
        <p:spPr>
          <a:xfrm rot="0">
            <a:off x="5851377" y="1460024"/>
            <a:ext cx="7042937" cy="1472799"/>
          </a:xfrm>
          <a:prstGeom prst="rect">
            <a:avLst/>
          </a:prstGeom>
        </p:spPr>
        <p:txBody>
          <a:bodyPr anchor="t" rtlCol="false" tIns="0" lIns="0" bIns="0" rIns="0">
            <a:spAutoFit/>
          </a:bodyPr>
          <a:lstStyle/>
          <a:p>
            <a:pPr algn="ctr">
              <a:lnSpc>
                <a:spcPts val="5972"/>
              </a:lnSpc>
            </a:pPr>
            <a:r>
              <a:rPr lang="en-US" sz="4265" spc="127">
                <a:solidFill>
                  <a:srgbClr val="175DBD"/>
                </a:solidFill>
                <a:latin typeface="Anton"/>
                <a:ea typeface="Anton"/>
                <a:cs typeface="Anton"/>
                <a:sym typeface="Anton"/>
              </a:rPr>
              <a:t>TUJUAN PRAKTIK KERJA LAPANGAN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999368" y="3094748"/>
            <a:ext cx="12289263" cy="2422969"/>
          </a:xfrm>
          <a:prstGeom prst="rect">
            <a:avLst/>
          </a:prstGeom>
        </p:spPr>
        <p:txBody>
          <a:bodyPr anchor="t" rtlCol="false" tIns="0" lIns="0" bIns="0" rIns="0">
            <a:spAutoFit/>
          </a:bodyPr>
          <a:lstStyle/>
          <a:p>
            <a:pPr algn="l" marL="478815" indent="-239408" lvl="1">
              <a:lnSpc>
                <a:spcPts val="3104"/>
              </a:lnSpc>
              <a:buFont typeface="Arial"/>
              <a:buChar char="•"/>
            </a:pPr>
            <a:r>
              <a:rPr lang="en-US" sz="2217">
                <a:solidFill>
                  <a:srgbClr val="175DBD"/>
                </a:solidFill>
                <a:latin typeface="Inter"/>
                <a:ea typeface="Inter"/>
                <a:cs typeface="Inter"/>
                <a:sym typeface="Inter"/>
              </a:rPr>
              <a:t>a. Manfaat bagi SMKN 2 Palembang </a:t>
            </a:r>
          </a:p>
          <a:p>
            <a:pPr algn="l" marL="478815" indent="-239408" lvl="1">
              <a:lnSpc>
                <a:spcPts val="3104"/>
              </a:lnSpc>
              <a:buFont typeface="Arial"/>
              <a:buChar char="•"/>
            </a:pPr>
            <a:r>
              <a:rPr lang="en-US" sz="2217">
                <a:solidFill>
                  <a:srgbClr val="175DBD"/>
                </a:solidFill>
                <a:latin typeface="Inter"/>
                <a:ea typeface="Inter"/>
                <a:cs typeface="Inter"/>
                <a:sym typeface="Inter"/>
              </a:rPr>
              <a:t>1. Meningkatkan reputasi sekolah.</a:t>
            </a:r>
          </a:p>
          <a:p>
            <a:pPr algn="l" marL="478815" indent="-239408" lvl="1">
              <a:lnSpc>
                <a:spcPts val="3104"/>
              </a:lnSpc>
              <a:buFont typeface="Arial"/>
              <a:buChar char="•"/>
            </a:pPr>
            <a:r>
              <a:rPr lang="en-US" sz="2217">
                <a:solidFill>
                  <a:srgbClr val="175DBD"/>
                </a:solidFill>
                <a:latin typeface="Inter"/>
                <a:ea typeface="Inter"/>
                <a:cs typeface="Inter"/>
                <a:sym typeface="Inter"/>
              </a:rPr>
              <a:t>2. Menjalin kerjasama yang baik antara pihak Dunia Usaha/Dunia </a:t>
            </a:r>
          </a:p>
          <a:p>
            <a:pPr algn="l" marL="478815" indent="-239408" lvl="1">
              <a:lnSpc>
                <a:spcPts val="3104"/>
              </a:lnSpc>
              <a:buFont typeface="Arial"/>
              <a:buChar char="•"/>
            </a:pPr>
            <a:r>
              <a:rPr lang="en-US" sz="2217">
                <a:solidFill>
                  <a:srgbClr val="175DBD"/>
                </a:solidFill>
                <a:latin typeface="Inter"/>
                <a:ea typeface="Inter"/>
                <a:cs typeface="Inter"/>
                <a:sym typeface="Inter"/>
              </a:rPr>
              <a:t>Industri. </a:t>
            </a:r>
          </a:p>
          <a:p>
            <a:pPr algn="l" marL="478815" indent="-239408" lvl="1">
              <a:lnSpc>
                <a:spcPts val="3104"/>
              </a:lnSpc>
              <a:buFont typeface="Arial"/>
              <a:buChar char="•"/>
            </a:pPr>
            <a:r>
              <a:rPr lang="en-US" sz="2217">
                <a:solidFill>
                  <a:srgbClr val="175DBD"/>
                </a:solidFill>
                <a:latin typeface="Inter"/>
                <a:ea typeface="Inter"/>
                <a:cs typeface="Inter"/>
                <a:sym typeface="Inter"/>
              </a:rPr>
              <a:t>3.  Menambah wawasan guru tentang dunia kerja.</a:t>
            </a:r>
          </a:p>
          <a:p>
            <a:pPr algn="ctr">
              <a:lnSpc>
                <a:spcPts val="3846"/>
              </a:lnSpc>
            </a:pPr>
          </a:p>
        </p:txBody>
      </p:sp>
      <p:sp>
        <p:nvSpPr>
          <p:cNvPr name="TextBox 8" id="8"/>
          <p:cNvSpPr txBox="true"/>
          <p:nvPr/>
        </p:nvSpPr>
        <p:spPr>
          <a:xfrm rot="0">
            <a:off x="5782724" y="1645638"/>
            <a:ext cx="7926509" cy="1553721"/>
          </a:xfrm>
          <a:prstGeom prst="rect">
            <a:avLst/>
          </a:prstGeom>
        </p:spPr>
        <p:txBody>
          <a:bodyPr anchor="t" rtlCol="false" tIns="0" lIns="0" bIns="0" rIns="0">
            <a:spAutoFit/>
          </a:bodyPr>
          <a:lstStyle/>
          <a:p>
            <a:pPr algn="ctr">
              <a:lnSpc>
                <a:spcPts val="6236"/>
              </a:lnSpc>
            </a:pPr>
            <a:r>
              <a:rPr lang="en-US" sz="4454" spc="133">
                <a:solidFill>
                  <a:srgbClr val="175DBD"/>
                </a:solidFill>
                <a:latin typeface="Anton"/>
                <a:ea typeface="Anton"/>
                <a:cs typeface="Anton"/>
                <a:sym typeface="Anton"/>
              </a:rPr>
              <a:t>MANFAAT PRAKTIK KERJA LAPANGAN</a:t>
            </a:r>
          </a:p>
        </p:txBody>
      </p:sp>
      <p:sp>
        <p:nvSpPr>
          <p:cNvPr name="TextBox 9" id="9"/>
          <p:cNvSpPr txBox="true"/>
          <p:nvPr/>
        </p:nvSpPr>
        <p:spPr>
          <a:xfrm rot="0">
            <a:off x="2999368" y="5095875"/>
            <a:ext cx="13438200" cy="1518382"/>
          </a:xfrm>
          <a:prstGeom prst="rect">
            <a:avLst/>
          </a:prstGeom>
        </p:spPr>
        <p:txBody>
          <a:bodyPr anchor="t" rtlCol="false" tIns="0" lIns="0" bIns="0" rIns="0">
            <a:spAutoFit/>
          </a:bodyPr>
          <a:lstStyle/>
          <a:p>
            <a:pPr algn="l" marL="470736" indent="-235368" lvl="1">
              <a:lnSpc>
                <a:spcPts val="3052"/>
              </a:lnSpc>
              <a:buFont typeface="Arial"/>
              <a:buChar char="•"/>
            </a:pPr>
            <a:r>
              <a:rPr lang="en-US" sz="2180">
                <a:solidFill>
                  <a:srgbClr val="175DBD"/>
                </a:solidFill>
                <a:latin typeface="Inter"/>
                <a:ea typeface="Inter"/>
                <a:cs typeface="Inter"/>
                <a:sym typeface="Inter"/>
              </a:rPr>
              <a:t>b. Manfaat bagi Dunia Usaha/Dunia Industri </a:t>
            </a:r>
          </a:p>
          <a:p>
            <a:pPr algn="l" marL="470736" indent="-235368" lvl="1">
              <a:lnSpc>
                <a:spcPts val="3052"/>
              </a:lnSpc>
              <a:buFont typeface="Arial"/>
              <a:buChar char="•"/>
            </a:pPr>
            <a:r>
              <a:rPr lang="en-US" sz="2180">
                <a:solidFill>
                  <a:srgbClr val="175DBD"/>
                </a:solidFill>
                <a:latin typeface="Inter"/>
                <a:ea typeface="Inter"/>
                <a:cs typeface="Inter"/>
                <a:sym typeface="Inter"/>
              </a:rPr>
              <a:t>1. Mengembangkan hubungan dengan berbagai institusi pendidikan. </a:t>
            </a:r>
          </a:p>
          <a:p>
            <a:pPr algn="l" marL="470736" indent="-235368" lvl="1">
              <a:lnSpc>
                <a:spcPts val="3052"/>
              </a:lnSpc>
              <a:buFont typeface="Arial"/>
              <a:buChar char="•"/>
            </a:pPr>
            <a:r>
              <a:rPr lang="en-US" sz="2180">
                <a:solidFill>
                  <a:srgbClr val="175DBD"/>
                </a:solidFill>
                <a:latin typeface="Inter"/>
                <a:ea typeface="Inter"/>
                <a:cs typeface="Inter"/>
                <a:sym typeface="Inter"/>
              </a:rPr>
              <a:t>2. Meningkatkan reputasi dan citra perusahaan.</a:t>
            </a:r>
          </a:p>
          <a:p>
            <a:pPr algn="l" marL="470736" indent="-235368" lvl="1">
              <a:lnSpc>
                <a:spcPts val="3052"/>
              </a:lnSpc>
              <a:buFont typeface="Arial"/>
              <a:buChar char="•"/>
            </a:pPr>
            <a:r>
              <a:rPr lang="en-US" sz="2180">
                <a:solidFill>
                  <a:srgbClr val="175DBD"/>
                </a:solidFill>
                <a:latin typeface="Inter"/>
                <a:ea typeface="Inter"/>
                <a:cs typeface="Inter"/>
                <a:sym typeface="Inter"/>
              </a:rPr>
              <a:t>3. Mendapat tenaga kerja magang.</a:t>
            </a:r>
          </a:p>
        </p:txBody>
      </p:sp>
      <p:sp>
        <p:nvSpPr>
          <p:cNvPr name="TextBox 10" id="10"/>
          <p:cNvSpPr txBox="true"/>
          <p:nvPr/>
        </p:nvSpPr>
        <p:spPr>
          <a:xfrm rot="0">
            <a:off x="2999368" y="6705215"/>
            <a:ext cx="11360998" cy="2438471"/>
          </a:xfrm>
          <a:prstGeom prst="rect">
            <a:avLst/>
          </a:prstGeom>
        </p:spPr>
        <p:txBody>
          <a:bodyPr anchor="t" rtlCol="false" tIns="0" lIns="0" bIns="0" rIns="0">
            <a:spAutoFit/>
          </a:bodyPr>
          <a:lstStyle/>
          <a:p>
            <a:pPr algn="l" marL="497756" indent="-248878" lvl="1">
              <a:lnSpc>
                <a:spcPts val="3227"/>
              </a:lnSpc>
              <a:buFont typeface="Arial"/>
              <a:buChar char="•"/>
            </a:pPr>
            <a:r>
              <a:rPr lang="en-US" sz="2305">
                <a:solidFill>
                  <a:srgbClr val="175DBD"/>
                </a:solidFill>
                <a:latin typeface="Inter"/>
                <a:ea typeface="Inter"/>
                <a:cs typeface="Inter"/>
                <a:sym typeface="Inter"/>
              </a:rPr>
              <a:t>c. Manfaat bagi Siswa/Siswi Praktik Kerja Lapangan </a:t>
            </a:r>
          </a:p>
          <a:p>
            <a:pPr algn="l" marL="497756" indent="-248878" lvl="1">
              <a:lnSpc>
                <a:spcPts val="3227"/>
              </a:lnSpc>
              <a:buFont typeface="Arial"/>
              <a:buChar char="•"/>
            </a:pPr>
            <a:r>
              <a:rPr lang="en-US" sz="2305">
                <a:solidFill>
                  <a:srgbClr val="175DBD"/>
                </a:solidFill>
                <a:latin typeface="Inter"/>
                <a:ea typeface="Inter"/>
                <a:cs typeface="Inter"/>
                <a:sym typeface="Inter"/>
              </a:rPr>
              <a:t>1. Menambah wawasan ilmu pengetahuan tentang Praktik Kerja Lapangan. </a:t>
            </a:r>
          </a:p>
          <a:p>
            <a:pPr algn="l" marL="497756" indent="-248878" lvl="1">
              <a:lnSpc>
                <a:spcPts val="3227"/>
              </a:lnSpc>
              <a:buFont typeface="Arial"/>
              <a:buChar char="•"/>
            </a:pPr>
            <a:r>
              <a:rPr lang="en-US" sz="2305">
                <a:solidFill>
                  <a:srgbClr val="175DBD"/>
                </a:solidFill>
                <a:latin typeface="Inter"/>
                <a:ea typeface="Inter"/>
                <a:cs typeface="Inter"/>
                <a:sym typeface="Inter"/>
              </a:rPr>
              <a:t>2. Melatih rasa tanggung jawab serta komunikatif. </a:t>
            </a:r>
          </a:p>
          <a:p>
            <a:pPr algn="l" marL="497756" indent="-248878" lvl="1">
              <a:lnSpc>
                <a:spcPts val="3227"/>
              </a:lnSpc>
              <a:buFont typeface="Arial"/>
              <a:buChar char="•"/>
            </a:pPr>
            <a:r>
              <a:rPr lang="en-US" sz="2305">
                <a:solidFill>
                  <a:srgbClr val="175DBD"/>
                </a:solidFill>
                <a:latin typeface="Inter"/>
                <a:ea typeface="Inter"/>
                <a:cs typeface="Inter"/>
                <a:sym typeface="Inter"/>
              </a:rPr>
              <a:t>3. Mengenalkan siswa/siswi tentang Dunia Usaha/Dunia Industri secara nyata. </a:t>
            </a:r>
          </a:p>
          <a:p>
            <a:pPr algn="l" marL="497756" indent="-248878" lvl="1">
              <a:lnSpc>
                <a:spcPts val="3227"/>
              </a:lnSpc>
              <a:buFont typeface="Arial"/>
              <a:buChar char="•"/>
            </a:pPr>
            <a:r>
              <a:rPr lang="en-US" sz="2305">
                <a:solidFill>
                  <a:srgbClr val="175DBD"/>
                </a:solidFill>
                <a:latin typeface="Inter"/>
                <a:ea typeface="Inter"/>
                <a:cs typeface="Inter"/>
                <a:sym typeface="Inter"/>
              </a:rPr>
              <a:t>4. Membangun relasi.</a:t>
            </a:r>
          </a:p>
          <a:p>
            <a:pPr algn="l" marL="497756" indent="-248878" lvl="1">
              <a:lnSpc>
                <a:spcPts val="3227"/>
              </a:lnSpc>
              <a:buFont typeface="Arial"/>
              <a:buChar char="•"/>
            </a:pPr>
            <a:r>
              <a:rPr lang="en-US" sz="2305">
                <a:solidFill>
                  <a:srgbClr val="175DBD"/>
                </a:solidFill>
                <a:latin typeface="Inter"/>
                <a:ea typeface="Inter"/>
                <a:cs typeface="Inter"/>
                <a:sym typeface="Inter"/>
              </a:rPr>
              <a:t>5. Menjadi bekal penting untuk melamar kerjaan.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7" id="7"/>
          <p:cNvGraphicFramePr>
            <a:graphicFrameLocks noGrp="true"/>
          </p:cNvGraphicFramePr>
          <p:nvPr/>
        </p:nvGraphicFramePr>
        <p:xfrm>
          <a:off x="4234543" y="2734627"/>
          <a:ext cx="8873966" cy="7260364"/>
        </p:xfrm>
        <a:graphic>
          <a:graphicData uri="http://schemas.openxmlformats.org/drawingml/2006/table">
            <a:tbl>
              <a:tblPr/>
              <a:tblGrid>
                <a:gridCol w="2957989"/>
                <a:gridCol w="2957989"/>
                <a:gridCol w="2957989"/>
              </a:tblGrid>
              <a:tr h="1400312">
                <a:tc>
                  <a:txBody>
                    <a:bodyPr anchor="t" rtlCol="false"/>
                    <a:lstStyle/>
                    <a:p>
                      <a:pPr algn="ctr">
                        <a:lnSpc>
                          <a:spcPts val="4759"/>
                        </a:lnSpc>
                        <a:defRPr/>
                      </a:pPr>
                      <a:r>
                        <a:rPr lang="en-US" sz="3399">
                          <a:solidFill>
                            <a:srgbClr val="000000"/>
                          </a:solidFill>
                          <a:latin typeface="Anton"/>
                          <a:ea typeface="Anton"/>
                          <a:cs typeface="Anton"/>
                          <a:sym typeface="Anton"/>
                        </a:rPr>
                        <a:t>HARI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Anton"/>
                          <a:ea typeface="Anton"/>
                          <a:cs typeface="Anton"/>
                          <a:sym typeface="Anton"/>
                        </a:rPr>
                        <a:t>JAM MASUK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19"/>
                        </a:lnSpc>
                        <a:defRPr/>
                      </a:pPr>
                      <a:r>
                        <a:rPr lang="en-US" sz="3299">
                          <a:solidFill>
                            <a:srgbClr val="000000"/>
                          </a:solidFill>
                          <a:latin typeface="Anton"/>
                          <a:ea typeface="Anton"/>
                          <a:cs typeface="Anton"/>
                          <a:sym typeface="Anton"/>
                        </a:rPr>
                        <a:t>JAM PULANG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87331">
                <a:tc>
                  <a:txBody>
                    <a:bodyPr anchor="t" rtlCol="false"/>
                    <a:lstStyle/>
                    <a:p>
                      <a:pPr algn="ctr">
                        <a:lnSpc>
                          <a:spcPts val="4199"/>
                        </a:lnSpc>
                        <a:defRPr/>
                      </a:pPr>
                      <a:r>
                        <a:rPr lang="en-US" sz="2999">
                          <a:solidFill>
                            <a:srgbClr val="000000"/>
                          </a:solidFill>
                          <a:latin typeface="Anton"/>
                          <a:ea typeface="Anton"/>
                          <a:cs typeface="Anton"/>
                          <a:sym typeface="Anton"/>
                        </a:rPr>
                        <a:t>SENIN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339"/>
                        </a:lnSpc>
                        <a:defRPr/>
                      </a:pPr>
                      <a:r>
                        <a:rPr lang="en-US" sz="3099">
                          <a:solidFill>
                            <a:srgbClr val="000000"/>
                          </a:solidFill>
                          <a:latin typeface="Anton"/>
                          <a:ea typeface="Anton"/>
                          <a:cs typeface="Anton"/>
                          <a:sym typeface="Anton"/>
                        </a:rPr>
                        <a:t>07.15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16.00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68180">
                <a:tc>
                  <a:txBody>
                    <a:bodyPr anchor="t" rtlCol="false"/>
                    <a:lstStyle/>
                    <a:p>
                      <a:pPr algn="ctr">
                        <a:lnSpc>
                          <a:spcPts val="4199"/>
                        </a:lnSpc>
                        <a:defRPr/>
                      </a:pPr>
                      <a:r>
                        <a:rPr lang="en-US" sz="2999">
                          <a:solidFill>
                            <a:srgbClr val="000000"/>
                          </a:solidFill>
                          <a:latin typeface="Anton"/>
                          <a:ea typeface="Anton"/>
                          <a:cs typeface="Anton"/>
                          <a:sym typeface="Anton"/>
                        </a:rPr>
                        <a:t>SELASA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07.15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16.00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68180">
                <a:tc>
                  <a:txBody>
                    <a:bodyPr anchor="t" rtlCol="false"/>
                    <a:lstStyle/>
                    <a:p>
                      <a:pPr algn="ctr">
                        <a:lnSpc>
                          <a:spcPts val="4199"/>
                        </a:lnSpc>
                        <a:defRPr/>
                      </a:pPr>
                      <a:r>
                        <a:rPr lang="en-US" sz="2999">
                          <a:solidFill>
                            <a:srgbClr val="000000"/>
                          </a:solidFill>
                          <a:latin typeface="Anton"/>
                          <a:ea typeface="Anton"/>
                          <a:cs typeface="Anton"/>
                          <a:sym typeface="Anton"/>
                        </a:rPr>
                        <a:t>RABU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07.15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16.00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68180">
                <a:tc>
                  <a:txBody>
                    <a:bodyPr anchor="t" rtlCol="false"/>
                    <a:lstStyle/>
                    <a:p>
                      <a:pPr algn="ctr">
                        <a:lnSpc>
                          <a:spcPts val="4199"/>
                        </a:lnSpc>
                        <a:defRPr/>
                      </a:pPr>
                      <a:r>
                        <a:rPr lang="en-US" sz="2999">
                          <a:solidFill>
                            <a:srgbClr val="000000"/>
                          </a:solidFill>
                          <a:latin typeface="Anton"/>
                          <a:ea typeface="Anton"/>
                          <a:cs typeface="Anton"/>
                          <a:sym typeface="Anton"/>
                        </a:rPr>
                        <a:t>KAMIS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07.15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16.00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68180">
                <a:tc>
                  <a:txBody>
                    <a:bodyPr anchor="t" rtlCol="false"/>
                    <a:lstStyle/>
                    <a:p>
                      <a:pPr algn="ctr">
                        <a:lnSpc>
                          <a:spcPts val="4199"/>
                        </a:lnSpc>
                        <a:defRPr/>
                      </a:pPr>
                      <a:r>
                        <a:rPr lang="en-US" sz="2999">
                          <a:solidFill>
                            <a:srgbClr val="000000"/>
                          </a:solidFill>
                          <a:latin typeface="Anton"/>
                          <a:ea typeface="Anton"/>
                          <a:cs typeface="Anton"/>
                          <a:sym typeface="Anton"/>
                        </a:rPr>
                        <a:t>JUMAT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07.15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Anton"/>
                          <a:ea typeface="Anton"/>
                          <a:cs typeface="Anton"/>
                          <a:sym typeface="Anton"/>
                        </a:rPr>
                        <a:t>16.00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8" id="8"/>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JADWAL KEGIATAN HARIAN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798650" y="2746833"/>
            <a:ext cx="5286354" cy="7048472"/>
          </a:xfrm>
          <a:custGeom>
            <a:avLst/>
            <a:gdLst/>
            <a:ahLst/>
            <a:cxnLst/>
            <a:rect r="r" b="b" t="t" l="l"/>
            <a:pathLst>
              <a:path h="7048472" w="5286354">
                <a:moveTo>
                  <a:pt x="0" y="0"/>
                </a:moveTo>
                <a:lnTo>
                  <a:pt x="5286354" y="0"/>
                </a:lnTo>
                <a:lnTo>
                  <a:pt x="5286354" y="7048472"/>
                </a:lnTo>
                <a:lnTo>
                  <a:pt x="0" y="7048472"/>
                </a:lnTo>
                <a:lnTo>
                  <a:pt x="0" y="0"/>
                </a:lnTo>
                <a:close/>
              </a:path>
            </a:pathLst>
          </a:custGeom>
          <a:blipFill>
            <a:blip r:embed="rId7"/>
            <a:stretch>
              <a:fillRect l="0" t="0" r="0" b="0"/>
            </a:stretch>
          </a:blipFill>
        </p:spPr>
      </p:sp>
      <p:sp>
        <p:nvSpPr>
          <p:cNvPr name="TextBox 8" id="8"/>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LAMPIRAN KEGIATAN HARIAN</a:t>
            </a:r>
          </a:p>
        </p:txBody>
      </p:sp>
      <p:sp>
        <p:nvSpPr>
          <p:cNvPr name="TextBox 9" id="9"/>
          <p:cNvSpPr txBox="true"/>
          <p:nvPr/>
        </p:nvSpPr>
        <p:spPr>
          <a:xfrm rot="0">
            <a:off x="7085004" y="2945627"/>
            <a:ext cx="10174296" cy="974014"/>
          </a:xfrm>
          <a:prstGeom prst="rect">
            <a:avLst/>
          </a:prstGeom>
        </p:spPr>
        <p:txBody>
          <a:bodyPr anchor="t" rtlCol="false" tIns="0" lIns="0" bIns="0" rIns="0">
            <a:spAutoFit/>
          </a:bodyPr>
          <a:lstStyle/>
          <a:p>
            <a:pPr algn="l" marL="605315" indent="-302657" lvl="1">
              <a:lnSpc>
                <a:spcPts val="3925"/>
              </a:lnSpc>
              <a:buFont typeface="Arial"/>
              <a:buChar char="•"/>
            </a:pPr>
            <a:r>
              <a:rPr lang="en-US" sz="2803">
                <a:solidFill>
                  <a:srgbClr val="175DBD"/>
                </a:solidFill>
                <a:latin typeface="Inter"/>
                <a:ea typeface="Inter"/>
                <a:cs typeface="Inter"/>
                <a:sym typeface="Inter"/>
              </a:rPr>
              <a:t>Mencari berkas nasabah yang ingin Top Up sesuai dengan tanggal,bulan,tahun pencairan pertama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711109" y="2746833"/>
            <a:ext cx="5286354" cy="7048472"/>
          </a:xfrm>
          <a:custGeom>
            <a:avLst/>
            <a:gdLst/>
            <a:ahLst/>
            <a:cxnLst/>
            <a:rect r="r" b="b" t="t" l="l"/>
            <a:pathLst>
              <a:path h="7048472" w="5286354">
                <a:moveTo>
                  <a:pt x="0" y="0"/>
                </a:moveTo>
                <a:lnTo>
                  <a:pt x="5286354" y="0"/>
                </a:lnTo>
                <a:lnTo>
                  <a:pt x="5286354" y="7048472"/>
                </a:lnTo>
                <a:lnTo>
                  <a:pt x="0" y="7048472"/>
                </a:lnTo>
                <a:lnTo>
                  <a:pt x="0" y="0"/>
                </a:lnTo>
                <a:close/>
              </a:path>
            </a:pathLst>
          </a:custGeom>
          <a:blipFill>
            <a:blip r:embed="rId7"/>
            <a:stretch>
              <a:fillRect l="0" t="0" r="0" b="0"/>
            </a:stretch>
          </a:blipFill>
        </p:spPr>
      </p:sp>
      <p:sp>
        <p:nvSpPr>
          <p:cNvPr name="TextBox 8" id="8"/>
          <p:cNvSpPr txBox="true"/>
          <p:nvPr/>
        </p:nvSpPr>
        <p:spPr>
          <a:xfrm rot="0">
            <a:off x="7189876" y="2670633"/>
            <a:ext cx="8235319" cy="1278546"/>
          </a:xfrm>
          <a:prstGeom prst="rect">
            <a:avLst/>
          </a:prstGeom>
        </p:spPr>
        <p:txBody>
          <a:bodyPr anchor="t" rtlCol="false" tIns="0" lIns="0" bIns="0" rIns="0">
            <a:spAutoFit/>
          </a:bodyPr>
          <a:lstStyle/>
          <a:p>
            <a:pPr algn="l" marL="790955" indent="-395478" lvl="1">
              <a:lnSpc>
                <a:spcPts val="5128"/>
              </a:lnSpc>
              <a:buFont typeface="Arial"/>
              <a:buChar char="•"/>
            </a:pPr>
            <a:r>
              <a:rPr lang="en-US" sz="3663">
                <a:solidFill>
                  <a:srgbClr val="175DBD"/>
                </a:solidFill>
                <a:latin typeface="Inter"/>
                <a:ea typeface="Inter"/>
                <a:cs typeface="Inter"/>
                <a:sym typeface="Inter"/>
              </a:rPr>
              <a:t>Mencari surat jaminan KUR yang sudah lunas </a:t>
            </a:r>
          </a:p>
        </p:txBody>
      </p:sp>
      <p:sp>
        <p:nvSpPr>
          <p:cNvPr name="TextBox 9" id="9"/>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LAMPIRAN KEGIATAN HARIAN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903522" y="2746833"/>
            <a:ext cx="5286354" cy="7048472"/>
          </a:xfrm>
          <a:custGeom>
            <a:avLst/>
            <a:gdLst/>
            <a:ahLst/>
            <a:cxnLst/>
            <a:rect r="r" b="b" t="t" l="l"/>
            <a:pathLst>
              <a:path h="7048472" w="5286354">
                <a:moveTo>
                  <a:pt x="0" y="0"/>
                </a:moveTo>
                <a:lnTo>
                  <a:pt x="5286354" y="0"/>
                </a:lnTo>
                <a:lnTo>
                  <a:pt x="5286354" y="7048472"/>
                </a:lnTo>
                <a:lnTo>
                  <a:pt x="0" y="7048472"/>
                </a:lnTo>
                <a:lnTo>
                  <a:pt x="0" y="0"/>
                </a:lnTo>
                <a:close/>
              </a:path>
            </a:pathLst>
          </a:custGeom>
          <a:blipFill>
            <a:blip r:embed="rId7"/>
            <a:stretch>
              <a:fillRect l="0" t="0" r="0" b="0"/>
            </a:stretch>
          </a:blipFill>
        </p:spPr>
      </p:sp>
      <p:sp>
        <p:nvSpPr>
          <p:cNvPr name="TextBox 8" id="8"/>
          <p:cNvSpPr txBox="true"/>
          <p:nvPr/>
        </p:nvSpPr>
        <p:spPr>
          <a:xfrm rot="0">
            <a:off x="7189876" y="2670633"/>
            <a:ext cx="8235319" cy="630846"/>
          </a:xfrm>
          <a:prstGeom prst="rect">
            <a:avLst/>
          </a:prstGeom>
        </p:spPr>
        <p:txBody>
          <a:bodyPr anchor="t" rtlCol="false" tIns="0" lIns="0" bIns="0" rIns="0">
            <a:spAutoFit/>
          </a:bodyPr>
          <a:lstStyle/>
          <a:p>
            <a:pPr algn="l" marL="790955" indent="-395478" lvl="1">
              <a:lnSpc>
                <a:spcPts val="5128"/>
              </a:lnSpc>
              <a:buFont typeface="Arial"/>
              <a:buChar char="•"/>
            </a:pPr>
            <a:r>
              <a:rPr lang="en-US" sz="3663">
                <a:solidFill>
                  <a:srgbClr val="175DBD"/>
                </a:solidFill>
                <a:latin typeface="Inter"/>
                <a:ea typeface="Inter"/>
                <a:cs typeface="Inter"/>
                <a:sym typeface="Inter"/>
              </a:rPr>
              <a:t>Fotocopy Berks-Berkas </a:t>
            </a:r>
          </a:p>
        </p:txBody>
      </p:sp>
      <p:sp>
        <p:nvSpPr>
          <p:cNvPr name="TextBox 9" id="9"/>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LAMPIRAN KEGIATAN HARIAN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903522" y="3027014"/>
            <a:ext cx="5286354" cy="7048472"/>
          </a:xfrm>
          <a:custGeom>
            <a:avLst/>
            <a:gdLst/>
            <a:ahLst/>
            <a:cxnLst/>
            <a:rect r="r" b="b" t="t" l="l"/>
            <a:pathLst>
              <a:path h="7048472" w="5286354">
                <a:moveTo>
                  <a:pt x="0" y="0"/>
                </a:moveTo>
                <a:lnTo>
                  <a:pt x="5286354" y="0"/>
                </a:lnTo>
                <a:lnTo>
                  <a:pt x="5286354" y="7048472"/>
                </a:lnTo>
                <a:lnTo>
                  <a:pt x="0" y="7048472"/>
                </a:lnTo>
                <a:lnTo>
                  <a:pt x="0" y="0"/>
                </a:lnTo>
                <a:close/>
              </a:path>
            </a:pathLst>
          </a:custGeom>
          <a:blipFill>
            <a:blip r:embed="rId7"/>
            <a:stretch>
              <a:fillRect l="0" t="0" r="0" b="0"/>
            </a:stretch>
          </a:blipFill>
        </p:spPr>
      </p:sp>
      <p:sp>
        <p:nvSpPr>
          <p:cNvPr name="TextBox 8" id="8"/>
          <p:cNvSpPr txBox="true"/>
          <p:nvPr/>
        </p:nvSpPr>
        <p:spPr>
          <a:xfrm rot="0">
            <a:off x="7189876" y="2670633"/>
            <a:ext cx="8235319" cy="630846"/>
          </a:xfrm>
          <a:prstGeom prst="rect">
            <a:avLst/>
          </a:prstGeom>
        </p:spPr>
        <p:txBody>
          <a:bodyPr anchor="t" rtlCol="false" tIns="0" lIns="0" bIns="0" rIns="0">
            <a:spAutoFit/>
          </a:bodyPr>
          <a:lstStyle/>
          <a:p>
            <a:pPr algn="l" marL="790955" indent="-395478" lvl="1">
              <a:lnSpc>
                <a:spcPts val="5128"/>
              </a:lnSpc>
              <a:buFont typeface="Arial"/>
              <a:buChar char="•"/>
            </a:pPr>
            <a:r>
              <a:rPr lang="en-US" sz="3663">
                <a:solidFill>
                  <a:srgbClr val="175DBD"/>
                </a:solidFill>
                <a:latin typeface="Inter"/>
                <a:ea typeface="Inter"/>
                <a:cs typeface="Inter"/>
                <a:sym typeface="Inter"/>
              </a:rPr>
              <a:t>Mencatat surat keluar dan masuk</a:t>
            </a:r>
          </a:p>
        </p:txBody>
      </p:sp>
      <p:sp>
        <p:nvSpPr>
          <p:cNvPr name="TextBox 9" id="9"/>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LAMPIRAN KEGIATAN HARIAN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00843" y="3710375"/>
            <a:ext cx="6886182" cy="5164636"/>
          </a:xfrm>
          <a:custGeom>
            <a:avLst/>
            <a:gdLst/>
            <a:ahLst/>
            <a:cxnLst/>
            <a:rect r="r" b="b" t="t" l="l"/>
            <a:pathLst>
              <a:path h="5164636" w="6886182">
                <a:moveTo>
                  <a:pt x="0" y="0"/>
                </a:moveTo>
                <a:lnTo>
                  <a:pt x="6886182" y="0"/>
                </a:lnTo>
                <a:lnTo>
                  <a:pt x="6886182" y="5164637"/>
                </a:lnTo>
                <a:lnTo>
                  <a:pt x="0" y="5164637"/>
                </a:lnTo>
                <a:lnTo>
                  <a:pt x="0" y="0"/>
                </a:lnTo>
                <a:close/>
              </a:path>
            </a:pathLst>
          </a:custGeom>
          <a:blipFill>
            <a:blip r:embed="rId7"/>
            <a:stretch>
              <a:fillRect l="0" t="0" r="0" b="0"/>
            </a:stretch>
          </a:blipFill>
        </p:spPr>
      </p:sp>
      <p:sp>
        <p:nvSpPr>
          <p:cNvPr name="TextBox 8" id="8"/>
          <p:cNvSpPr txBox="true"/>
          <p:nvPr/>
        </p:nvSpPr>
        <p:spPr>
          <a:xfrm rot="0">
            <a:off x="8463250" y="4004133"/>
            <a:ext cx="8235319" cy="1278546"/>
          </a:xfrm>
          <a:prstGeom prst="rect">
            <a:avLst/>
          </a:prstGeom>
        </p:spPr>
        <p:txBody>
          <a:bodyPr anchor="t" rtlCol="false" tIns="0" lIns="0" bIns="0" rIns="0">
            <a:spAutoFit/>
          </a:bodyPr>
          <a:lstStyle/>
          <a:p>
            <a:pPr algn="l" marL="790955" indent="-395478" lvl="1">
              <a:lnSpc>
                <a:spcPts val="5128"/>
              </a:lnSpc>
              <a:buFont typeface="Arial"/>
              <a:buChar char="•"/>
            </a:pPr>
            <a:r>
              <a:rPr lang="en-US" sz="3663">
                <a:solidFill>
                  <a:srgbClr val="175DBD"/>
                </a:solidFill>
                <a:latin typeface="Inter"/>
                <a:ea typeface="Inter"/>
                <a:cs typeface="Inter"/>
                <a:sym typeface="Inter"/>
              </a:rPr>
              <a:t>Mendata pembukaan buku rekening persirah junior</a:t>
            </a:r>
          </a:p>
        </p:txBody>
      </p:sp>
      <p:sp>
        <p:nvSpPr>
          <p:cNvPr name="TextBox 9" id="9"/>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LAMPIRAN KEGIATAN HARIAN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744351" y="3263857"/>
            <a:ext cx="4834785" cy="5749515"/>
          </a:xfrm>
          <a:custGeom>
            <a:avLst/>
            <a:gdLst/>
            <a:ahLst/>
            <a:cxnLst/>
            <a:rect r="r" b="b" t="t" l="l"/>
            <a:pathLst>
              <a:path h="5749515" w="4834785">
                <a:moveTo>
                  <a:pt x="0" y="0"/>
                </a:moveTo>
                <a:lnTo>
                  <a:pt x="4834785" y="0"/>
                </a:lnTo>
                <a:lnTo>
                  <a:pt x="4834785" y="5749514"/>
                </a:lnTo>
                <a:lnTo>
                  <a:pt x="0" y="5749514"/>
                </a:lnTo>
                <a:lnTo>
                  <a:pt x="0" y="0"/>
                </a:lnTo>
                <a:close/>
              </a:path>
            </a:pathLst>
          </a:custGeom>
          <a:blipFill>
            <a:blip r:embed="rId7"/>
            <a:stretch>
              <a:fillRect l="0" t="0" r="0" b="-12120"/>
            </a:stretch>
          </a:blipFill>
        </p:spPr>
      </p:sp>
      <p:sp>
        <p:nvSpPr>
          <p:cNvPr name="TextBox 8" id="8"/>
          <p:cNvSpPr txBox="true"/>
          <p:nvPr/>
        </p:nvSpPr>
        <p:spPr>
          <a:xfrm rot="0">
            <a:off x="7077073" y="3634175"/>
            <a:ext cx="8235319" cy="1926246"/>
          </a:xfrm>
          <a:prstGeom prst="rect">
            <a:avLst/>
          </a:prstGeom>
        </p:spPr>
        <p:txBody>
          <a:bodyPr anchor="t" rtlCol="false" tIns="0" lIns="0" bIns="0" rIns="0">
            <a:spAutoFit/>
          </a:bodyPr>
          <a:lstStyle/>
          <a:p>
            <a:pPr algn="l" marL="790955" indent="-395478" lvl="1">
              <a:lnSpc>
                <a:spcPts val="5128"/>
              </a:lnSpc>
              <a:buFont typeface="Arial"/>
              <a:buChar char="•"/>
            </a:pPr>
            <a:r>
              <a:rPr lang="en-US" sz="3663">
                <a:solidFill>
                  <a:srgbClr val="175DBD"/>
                </a:solidFill>
                <a:latin typeface="Inter"/>
                <a:ea typeface="Inter"/>
                <a:cs typeface="Inter"/>
                <a:sym typeface="Inter"/>
              </a:rPr>
              <a:t>Membantu pembukaan buku rekening persirah junior di puskesmas </a:t>
            </a:r>
          </a:p>
        </p:txBody>
      </p:sp>
      <p:sp>
        <p:nvSpPr>
          <p:cNvPr name="TextBox 9" id="9"/>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LAMPIRAN KEGIATAN HARIAN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879428" y="3508785"/>
            <a:ext cx="4564631" cy="6086175"/>
          </a:xfrm>
          <a:custGeom>
            <a:avLst/>
            <a:gdLst/>
            <a:ahLst/>
            <a:cxnLst/>
            <a:rect r="r" b="b" t="t" l="l"/>
            <a:pathLst>
              <a:path h="6086175" w="4564631">
                <a:moveTo>
                  <a:pt x="0" y="0"/>
                </a:moveTo>
                <a:lnTo>
                  <a:pt x="4564631" y="0"/>
                </a:lnTo>
                <a:lnTo>
                  <a:pt x="4564631" y="6086175"/>
                </a:lnTo>
                <a:lnTo>
                  <a:pt x="0" y="6086175"/>
                </a:lnTo>
                <a:lnTo>
                  <a:pt x="0" y="0"/>
                </a:lnTo>
                <a:close/>
              </a:path>
            </a:pathLst>
          </a:custGeom>
          <a:blipFill>
            <a:blip r:embed="rId7"/>
            <a:stretch>
              <a:fillRect l="0" t="0" r="0" b="0"/>
            </a:stretch>
          </a:blipFill>
        </p:spPr>
      </p:sp>
      <p:sp>
        <p:nvSpPr>
          <p:cNvPr name="TextBox 8" id="8"/>
          <p:cNvSpPr txBox="true"/>
          <p:nvPr/>
        </p:nvSpPr>
        <p:spPr>
          <a:xfrm rot="0">
            <a:off x="7294787" y="3634175"/>
            <a:ext cx="8235319" cy="1278546"/>
          </a:xfrm>
          <a:prstGeom prst="rect">
            <a:avLst/>
          </a:prstGeom>
        </p:spPr>
        <p:txBody>
          <a:bodyPr anchor="t" rtlCol="false" tIns="0" lIns="0" bIns="0" rIns="0">
            <a:spAutoFit/>
          </a:bodyPr>
          <a:lstStyle/>
          <a:p>
            <a:pPr algn="l" marL="790955" indent="-395478" lvl="1">
              <a:lnSpc>
                <a:spcPts val="5128"/>
              </a:lnSpc>
              <a:buFont typeface="Arial"/>
              <a:buChar char="•"/>
            </a:pPr>
            <a:r>
              <a:rPr lang="en-US" sz="3663">
                <a:solidFill>
                  <a:srgbClr val="175DBD"/>
                </a:solidFill>
                <a:latin typeface="Inter"/>
                <a:ea typeface="Inter"/>
                <a:cs typeface="Inter"/>
                <a:sym typeface="Inter"/>
              </a:rPr>
              <a:t>Membagikan brosur kredit untuk pelantikan P3K</a:t>
            </a:r>
          </a:p>
        </p:txBody>
      </p:sp>
      <p:sp>
        <p:nvSpPr>
          <p:cNvPr name="TextBox 9" id="9"/>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LAMPIRAN KEGIATAN HARIAN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7854954" cy="3462725"/>
          </a:xfrm>
          <a:custGeom>
            <a:avLst/>
            <a:gdLst/>
            <a:ahLst/>
            <a:cxnLst/>
            <a:rect r="r" b="b" t="t" l="l"/>
            <a:pathLst>
              <a:path h="3462725" w="7854954">
                <a:moveTo>
                  <a:pt x="0" y="3462725"/>
                </a:moveTo>
                <a:lnTo>
                  <a:pt x="7854954" y="3462725"/>
                </a:lnTo>
                <a:lnTo>
                  <a:pt x="7854954" y="0"/>
                </a:lnTo>
                <a:lnTo>
                  <a:pt x="0" y="0"/>
                </a:lnTo>
                <a:lnTo>
                  <a:pt x="0" y="346272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432732" y="6824136"/>
            <a:ext cx="7855268" cy="3462864"/>
          </a:xfrm>
          <a:custGeom>
            <a:avLst/>
            <a:gdLst/>
            <a:ahLst/>
            <a:cxnLst/>
            <a:rect r="r" b="b" t="t" l="l"/>
            <a:pathLst>
              <a:path h="3462864" w="7855268">
                <a:moveTo>
                  <a:pt x="7855268" y="0"/>
                </a:moveTo>
                <a:lnTo>
                  <a:pt x="0" y="0"/>
                </a:lnTo>
                <a:lnTo>
                  <a:pt x="0" y="3462864"/>
                </a:lnTo>
                <a:lnTo>
                  <a:pt x="7855268" y="3462864"/>
                </a:lnTo>
                <a:lnTo>
                  <a:pt x="78552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504242" y="2649333"/>
            <a:ext cx="15279517" cy="6556291"/>
          </a:xfrm>
          <a:prstGeom prst="rect">
            <a:avLst/>
          </a:prstGeom>
        </p:spPr>
        <p:txBody>
          <a:bodyPr anchor="t" rtlCol="false" tIns="0" lIns="0" bIns="0" rIns="0">
            <a:spAutoFit/>
          </a:bodyPr>
          <a:lstStyle/>
          <a:p>
            <a:pPr algn="ctr">
              <a:lnSpc>
                <a:spcPts val="4029"/>
              </a:lnSpc>
            </a:pPr>
            <a:r>
              <a:rPr lang="en-US" sz="2878">
                <a:solidFill>
                  <a:srgbClr val="175DBD"/>
                </a:solidFill>
                <a:latin typeface="Inter"/>
                <a:ea typeface="Inter"/>
                <a:cs typeface="Inter"/>
                <a:sym typeface="Inter"/>
              </a:rPr>
              <a:t>Pelaksanaan Praktik Kerja Lapangan (PKL) di Bank Sumsel Babel Cabang Pembantu PTC memberikan penulis pengalaman langsung mengenai proses kerja di bidang perbankan. Selama PKL, penulis mempelajari berbagai tugas administrasi, seperti mengarsip berkas nasabah, melakukan pemindaian dokumen, serta mencari berkas jaminan, SK nasabah, dan berkas terkait pengajuan top up.</a:t>
            </a:r>
          </a:p>
          <a:p>
            <a:pPr algn="ctr">
              <a:lnSpc>
                <a:spcPts val="4029"/>
              </a:lnSpc>
            </a:pPr>
            <a:r>
              <a:rPr lang="en-US" sz="2878">
                <a:solidFill>
                  <a:srgbClr val="175DBD"/>
                </a:solidFill>
                <a:latin typeface="Inter"/>
                <a:ea typeface="Inter"/>
                <a:cs typeface="Inter"/>
                <a:sym typeface="Inter"/>
              </a:rPr>
              <a:t>Lingkungan kerja yang ramah membantu penulis beradaptasi, meskipun pada awalnya terdapat kendala dalam memahami instruksi dan menyesuaikan diri dengan alur kerja. Hambatan tersebut dapat diatasi melalui bimbingan pegawai dan kemauan penulis untuk terus belajar.</a:t>
            </a:r>
          </a:p>
          <a:p>
            <a:pPr algn="ctr">
              <a:lnSpc>
                <a:spcPts val="4029"/>
              </a:lnSpc>
            </a:pPr>
            <a:r>
              <a:rPr lang="en-US" sz="2878">
                <a:solidFill>
                  <a:srgbClr val="175DBD"/>
                </a:solidFill>
                <a:latin typeface="Inter"/>
                <a:ea typeface="Inter"/>
                <a:cs typeface="Inter"/>
                <a:sym typeface="Inter"/>
              </a:rPr>
              <a:t>Secara keseluruhan, PKL ini memberikan gambaran nyata tentang dunia kerja dan meningkatkan kesiapan penulis dalam menghadapi lingkungan profesional, terutama dalam hal disiplin, tanggung jawab, dan kerja sama.</a:t>
            </a:r>
          </a:p>
          <a:p>
            <a:pPr algn="ctr">
              <a:lnSpc>
                <a:spcPts val="4029"/>
              </a:lnSpc>
            </a:pPr>
          </a:p>
        </p:txBody>
      </p:sp>
      <p:sp>
        <p:nvSpPr>
          <p:cNvPr name="TextBox 8" id="8"/>
          <p:cNvSpPr txBox="true"/>
          <p:nvPr/>
        </p:nvSpPr>
        <p:spPr>
          <a:xfrm rot="0">
            <a:off x="5782724" y="1645638"/>
            <a:ext cx="6722553" cy="795890"/>
          </a:xfrm>
          <a:prstGeom prst="rect">
            <a:avLst/>
          </a:prstGeom>
        </p:spPr>
        <p:txBody>
          <a:bodyPr anchor="t" rtlCol="false" tIns="0" lIns="0" bIns="0" rIns="0">
            <a:spAutoFit/>
          </a:bodyPr>
          <a:lstStyle/>
          <a:p>
            <a:pPr algn="ctr">
              <a:lnSpc>
                <a:spcPts val="6532"/>
              </a:lnSpc>
            </a:pPr>
            <a:r>
              <a:rPr lang="en-US" sz="4665" spc="139">
                <a:solidFill>
                  <a:srgbClr val="175DBD"/>
                </a:solidFill>
                <a:latin typeface="Anton"/>
                <a:ea typeface="Anton"/>
                <a:cs typeface="Anton"/>
                <a:sym typeface="Anton"/>
              </a:rPr>
              <a:t>KESIMPULAN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0">
            <a:off x="0" y="0"/>
            <a:ext cx="8416731" cy="3710375"/>
          </a:xfrm>
          <a:custGeom>
            <a:avLst/>
            <a:gdLst/>
            <a:ahLst/>
            <a:cxnLst/>
            <a:rect r="r" b="b" t="t" l="l"/>
            <a:pathLst>
              <a:path h="3710375" w="8416731">
                <a:moveTo>
                  <a:pt x="0" y="3710375"/>
                </a:moveTo>
                <a:lnTo>
                  <a:pt x="8416731" y="3710375"/>
                </a:lnTo>
                <a:lnTo>
                  <a:pt x="8416731" y="0"/>
                </a:lnTo>
                <a:lnTo>
                  <a:pt x="0" y="0"/>
                </a:lnTo>
                <a:lnTo>
                  <a:pt x="0" y="37103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9871710" y="6576819"/>
            <a:ext cx="8416290" cy="3710181"/>
          </a:xfrm>
          <a:custGeom>
            <a:avLst/>
            <a:gdLst/>
            <a:ahLst/>
            <a:cxnLst/>
            <a:rect r="r" b="b" t="t" l="l"/>
            <a:pathLst>
              <a:path h="3710181" w="8416290">
                <a:moveTo>
                  <a:pt x="8416290" y="0"/>
                </a:moveTo>
                <a:lnTo>
                  <a:pt x="0" y="0"/>
                </a:lnTo>
                <a:lnTo>
                  <a:pt x="0" y="3710181"/>
                </a:lnTo>
                <a:lnTo>
                  <a:pt x="8416290" y="3710181"/>
                </a:lnTo>
                <a:lnTo>
                  <a:pt x="841629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259300" y="466321"/>
            <a:ext cx="442540" cy="6084929"/>
          </a:xfrm>
          <a:custGeom>
            <a:avLst/>
            <a:gdLst/>
            <a:ahLst/>
            <a:cxnLst/>
            <a:rect r="r" b="b" t="t" l="l"/>
            <a:pathLst>
              <a:path h="6084929" w="442540">
                <a:moveTo>
                  <a:pt x="0" y="0"/>
                </a:moveTo>
                <a:lnTo>
                  <a:pt x="442540" y="0"/>
                </a:lnTo>
                <a:lnTo>
                  <a:pt x="442540" y="6084929"/>
                </a:lnTo>
                <a:lnTo>
                  <a:pt x="0" y="6084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86160" y="3710375"/>
            <a:ext cx="442540" cy="6084929"/>
          </a:xfrm>
          <a:custGeom>
            <a:avLst/>
            <a:gdLst/>
            <a:ahLst/>
            <a:cxnLst/>
            <a:rect r="r" b="b" t="t" l="l"/>
            <a:pathLst>
              <a:path h="6084929" w="442540">
                <a:moveTo>
                  <a:pt x="442540" y="6084930"/>
                </a:moveTo>
                <a:lnTo>
                  <a:pt x="0" y="6084930"/>
                </a:lnTo>
                <a:lnTo>
                  <a:pt x="0" y="0"/>
                </a:lnTo>
                <a:lnTo>
                  <a:pt x="442540" y="0"/>
                </a:lnTo>
                <a:lnTo>
                  <a:pt x="442540" y="608493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185511" y="3852862"/>
            <a:ext cx="11916978" cy="2314575"/>
          </a:xfrm>
          <a:prstGeom prst="rect">
            <a:avLst/>
          </a:prstGeom>
        </p:spPr>
        <p:txBody>
          <a:bodyPr anchor="t" rtlCol="false" tIns="0" lIns="0" bIns="0" rIns="0">
            <a:spAutoFit/>
          </a:bodyPr>
          <a:lstStyle/>
          <a:p>
            <a:pPr algn="ctr">
              <a:lnSpc>
                <a:spcPts val="18900"/>
              </a:lnSpc>
            </a:pPr>
            <a:r>
              <a:rPr lang="en-US" sz="13500" spc="405">
                <a:solidFill>
                  <a:srgbClr val="175DBD"/>
                </a:solidFill>
                <a:latin typeface="Anton"/>
                <a:ea typeface="Anton"/>
                <a:cs typeface="Anton"/>
                <a:sym typeface="Anton"/>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DAG652rlBuA</dc:identifier>
  <dcterms:modified xsi:type="dcterms:W3CDTF">2011-08-01T06:04:30Z</dcterms:modified>
  <cp:revision>1</cp:revision>
  <dc:title>Putih Dan Biru Modern Laporan Penelitian Presentasi</dc:title>
</cp:coreProperties>
</file>